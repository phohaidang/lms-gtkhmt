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BAF737 — GIỚI THIỆU KHOA HỌC MÁY TÍNH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GIẢNG SỐ 03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1417320"/>
            <a:ext cx="4572000" cy="1828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HÀM, PHÂN RÃ</a:t>
            </a:r>
            <a:endParaRPr lang="en-US" sz="2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&amp; TRỪU TƯỢNG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3 (Phần I) · Thời lượng 5 giờ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11A40"/>
          </a:solidFill>
          <a:ln w="12700">
            <a:solidFill>
              <a:srgbClr val="111A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viên: ......................   ·   Năm học 2025-2026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MỤC TIÊU BUỔI HỌC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 · 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SAU BUỔI HỌC, SINH VIÊN CÓ THỂ...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371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nghĩa và gọi hàm Python; phân biệt tham số và đối số.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01168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19659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return, phân biệt rạch ròi với print.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60604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5603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biệt biến cục bộ và biến toàn cục (scope).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rã (decompose) bài toán lớn thành nhiều hàm nhỏ.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7490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trừu tượng (abstraction) — dùng hàm như hộp đen.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NỘI DUNG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 · 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BUỔI 3 GỒM 4 PHẦN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554480" y="1417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HÀM LÀ GÌ?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17190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def, return, gọi hàm — tái sử dụng code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2402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THAM SỐ &amp; SCOPE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24963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default, keyword, biến cục bộ vs toàn cục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0175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2971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PHÂN RÃ &amp; TRỪU TƯỢNG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54480" y="32735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Chia bài toán lớn thành hàm nhỏ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solidFill>
            <a:srgbClr val="F5F6FA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947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554480" y="37490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 &amp; ĐÁNH GIÁ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405079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Bộ công cụ tài chính, trắc nghiệm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HÀM LÀ GÌ?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01 · SITUATION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 ·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VẤN ĐỀ: CODE BUỔI 2 LẶP LẠI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Tính lãi cho 2 khách — copy 2 lần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Khách 1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cuoi1 = 100_000_000 * (1 + 5/100 * 1)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print("Khách 1:", cuoi1)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Khách 2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cuoi2 = 50_000_000 * (1 + 5/100 * 1)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print("Khách 2:", cuoi2)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CÂU HỎI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"Nếu phải sửa công thức (ví dụ đổi cách tính lãi), em phải sửa bao nhiêu chỗ?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có 1000 khách — em copy 1000 lần?"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01 · CÁI BIẾT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 · 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EM ĐÃ DÙNG REMOTE TV CHƯA?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697480" cy="228600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630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REMOTE TV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42316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"Kênh +" → chuyển kênh.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biết bên trong nó làm gì.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1371600"/>
            <a:ext cx="2697480" cy="228600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4630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🍱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246120" y="20574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MICROWAVE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42316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Bấm "3 phút" → đồ ăn nóng.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biết sóng vi ba ra sao.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371600"/>
            <a:ext cx="2697480" cy="228600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4630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035040" y="205740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B255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EXCEL SUM()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2423160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=SUM(A1:A10) → tổng.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biết Excel cộng kiểu gì.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886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TRỪU TƯỢNG: Dùng kết quả mà không cần quan tâm chi tiết bên trong. Hàm = công cụ.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01 · DEF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 · 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ĐÓNG GÓI BẰNG def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6459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Định nghĩa hàm tinh_lai_don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tinh_lai_don(goc, lai_suat, nam):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cuoi = goc * (1 + lai_suat/100 * nam)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cuoi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print("Khách 1:", tinh_lai_don(100_000_000, 5, 1))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print("Khách 2:", tinh_lai_don(50_000_000, 5, 1))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GIẢI PHẪU CÚ PHÁP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5204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def         →  từ khoá báo "đây là hàm"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tinh_lai_don  →  TÊN hàm (giống tên biến)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(goc, lai_suat, nam)  →  THAM SỐ — "đầu vào"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return     →  TRẢ kết quả ra ngoài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01 · RETURN VS PRINT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 · 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return vs print — NHẦM LẪN LỚN NHẤT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4023360" cy="1828800"/>
          </a:xfrm>
          <a:prstGeom prst="rect">
            <a:avLst/>
          </a:prstGeom>
          <a:solidFill>
            <a:srgbClr val="FFEBEE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✗ DÙNG print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cong(a, b):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print(a + b)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cong(2, 3)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In: 5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Sau đó: None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✓ DÙNG return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9164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cong(a, b):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cong(2, 3)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In: 5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Có thể: x + 1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ĐIỀU CỐT LÕI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print  →  HIỆN giá trị ra màn hình  (nói)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return →  TRAO giá trị về cho nơi gọi  (đưa). Mới có thể gán, cộng, dùng tiếp.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THAM SỐ &amp; SCOPE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02 · DEFAULT PARAMETER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 · 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THAM SỐ MẶC ĐỊNH &amp; KEYWORD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22860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cách gọi 1 hàm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tinh_lai(goc, lai_suat=5, nam=1):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goc * (1 + lai_suat/100 * nam)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tinh_lai(100_000_000)              # dùng mặc định 5%, 1 năm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tinh_lai(100_000_000, 7)           # đổi lãi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tinh_lai(100_000_000, nam=3)       # keyword argument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FFEBEE"/>
          </a:solidFill>
          <a:ln w="1524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9476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BẪY: tham số có default PHẢI đứng SAU tham số bắt buộc.  def f(a=1, b)  → LỖI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02 · SCOPE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 ·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SCOPE — "NGĂN KÉO" CỦA HÀM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trong hàm KHÁC x ngoài hàm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78638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thay_x():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20            # biến cục bộ MỚI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print("Trong:", x)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thay_x()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print("Ngoài:", x)   # vẫn = 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QUY TẮC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Biến trong hàm  →  CỤC BỘ  (chỉ tồn tại khi hàm chạy)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Biến ngoài hàm   →  TOÀN CỤC  (hàm có thể đọc, không sửa được)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02 · BUILT-IN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 ·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 HÀM BUILT-IN THƯỜNG DÙNG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1280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dụng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1280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645920"/>
            <a:ext cx="82296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6459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abs(x)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16459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 trị tuyệt đối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6459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abs(-5) → 5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057400"/>
            <a:ext cx="8229600" cy="411480"/>
          </a:xfrm>
          <a:prstGeom prst="rect">
            <a:avLst/>
          </a:prstGeom>
          <a:solidFill>
            <a:srgbClr val="F5F6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0574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round(x, 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20574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tròn n chữ số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057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round(3.14159, 2) → 3.14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4688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max(...)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2468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Lớn nhất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0" y="24688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max(3, 7, 2) → 7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solidFill>
            <a:srgbClr val="F5F6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2880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min(...)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28803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Nhỏ nhất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0" y="2880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min(3, 7, 2) → 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2918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286000" y="3291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dài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3291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len("hello") → 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703320"/>
            <a:ext cx="8229600" cy="411480"/>
          </a:xfrm>
          <a:prstGeom prst="rect">
            <a:avLst/>
          </a:prstGeom>
          <a:solidFill>
            <a:srgbClr val="F5F6FA"/>
          </a:solidFill>
          <a:ln w="381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7033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sum([..])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286000" y="37033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list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0" y="37033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sum([1,2,3]) → 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Đây là TRỪU TƯỢNG: dùng kết quả, không cần biết cài đặt bên trong.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PHÂN RÃ &amp; TRỪU TƯỢNG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PHÂN RÃ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 · 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PHÂN RÃ — CHIA ĐỂ TRỊ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TÌNH HUỐNG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"Sếp giao em viết phần mềm quản lý ngân hàng cộng đồng. Em bắt đầu từ đâu?"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2011680" cy="77724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688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nap_tien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0" y="2468880"/>
            <a:ext cx="2011680" cy="77724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24688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rut_tien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468880"/>
            <a:ext cx="2011680" cy="77724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4688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xem_so_du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6560" y="2468880"/>
            <a:ext cx="2011680" cy="777240"/>
          </a:xfrm>
          <a:prstGeom prst="rect">
            <a:avLst/>
          </a:prstGeom>
          <a:solidFill>
            <a:srgbClr val="E3F2FD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4688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96012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611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QUY TẮC KINH NGHIỆM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hàm chỉ làm MỘT việc và làm tốt việc đó. Nếu mô tả phải dùng "và" → có thể nên tách.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LAB PHÂN RÃ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 · 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CODE QUẢN LÝ TÀI KHOẢN — PHÂN RÃ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Mỗi việc — một hàm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nap_tien(so_du, so_tien):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so_du + so_tien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rut_tien(so_du, so_tien):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so_tien &lt;= so_du: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so_du - so_tien, True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so_du, False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xem_so_du(so_du):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print("Số dư:", so_du)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03 · TRỪU TƯỢNG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 · 16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TRỪU TƯỢNG — HỘP ĐEN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 — dùng được, không cần biết cài đặt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print(math.sqrt(2))         # 1.4142...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CDC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print(math.factorial(10))   # 3628800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26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EM ĐÃ DÙNG NHIỀU "HỘP ĐEN" RỒI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 print, input, len, type, range, abs, round, max, min...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có biết Python cài chúng thế nào? Không. Và đó chính là vẻ đẹp của trừu tượng.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đơn giản, công dụng rõ ràng, không bắt người dùng quan tâm chi tiết.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200400" y="210312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377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 &amp; ĐÁNH GIÁ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LAB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 · 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LAB: BỘ CÔNG CỤ TÀI CHÍNH (5 HÀM)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tinh_lai_don(goc, ls, nam)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2801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số tiền cuối kỳ — lãi đơn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187452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8745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18745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tinh_lai_kep(goc, ls, nam)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18745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Lãi kép: goc * (1 + ls/100) ** nam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4688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2468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chon_lai_suat(thang)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24688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lãi suất theo gói (4 / 5.5 / 7%)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0632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06324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tinh_lai_tong_hop(goc, thang)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30632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hàm 3 và 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solidFill>
            <a:srgbClr val="E3F2FD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6576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7280" y="3657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5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bao_cao(danh_sach_khach)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36576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báo cáo cho cả danh sách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YÊU CẦU: mỗi hàm có docstring (1 dòng comment trên đầu) — chuẩn nghề nghiệp.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ĐÁNH GIÁ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 · 19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TRẮC NGHIỆM CUỐI BUỔI (1/2)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f(x):  return x * 2          → print(f(3) + f(4)) in ra?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14          B. 7          C. 12          D. Lỗi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g(x):  print(x+1)         → a = g(5); print(a) in ra?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6 6          B. 6 None          C. 5 None          D. Lỗi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ĐÁNH GIÁ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 ·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TRẮC NGHIỆM CUỐI BUỔI (2/2)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37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x=10\ndef f():\n    x=20\n    print(x)\nf()\nprint(x)        →  in ra?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20 20          B. 10 10          C. 20 10          D. 10 20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ĐÁP ÁN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Câu 1: A  (f(3)=6, f(4)=8 → 14)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Câu 2: B  (g không return → a = None)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Câu 3: C  (x trong hàm là cục bộ)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SECTION 04 · TỔNG KẾT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558"/>
          </a:solidFill>
          <a:ln w="12700">
            <a:solidFill>
              <a:srgbClr val="1B255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818888"/>
            <a:ext cx="7315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3 · 21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0" y="481888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282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BTVN &amp; CẦU NỐI BUỔI 4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solidFill>
            <a:srgbClr val="E3F2FD"/>
          </a:solidFill>
          <a:ln w="1524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65C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BÀI TẬP VỀ NHÀ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tinh_bmi(can_nang, chieu_cao) — trả BMI + phân loại.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dem_nguyen_am(chuoi) — đếm nguyên âm.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lon_nhat_3(a, b, c) — không dùng max.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1554480"/>
          </a:xfrm>
          <a:prstGeom prst="rect">
            <a:avLst/>
          </a:prstGeom>
          <a:solidFill>
            <a:srgbClr val="FFF3E0"/>
          </a:solidFill>
          <a:ln w="19050">
            <a:solidFill>
              <a:srgbClr val="E651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17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51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CÂU HỎI MỞ → BUỔI 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"Khách gõ 'abc' thay vì số tiền — chương trình em viết SẬP!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 sao bắt lỗi mà không sập? Và làm sao một hàm có thể gọi chính nó?"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Buổi sau: try/except + đệ quy + xử lý chuỗi.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500" kern="0" dirty="0">
                <a:solidFill>
                  <a:srgbClr val="F9A825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CÁC EM ĐÃ HOÀN THÀNH BUỔI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CẢM ƠN VÀ</a:t>
            </a:r>
            <a:endParaRPr lang="en-US" sz="3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HẸN GẶP LẠI BUỔI 4!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2880360"/>
            <a:ext cx="2743200" cy="2743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sau: Đệ quy, chuỗi và xử lý lỗi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Hãy đặt câu hỏi nếu còn điều chưa rõ!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HÀM, PHÂN RÃ
&amp; TRỪU TƯỢNG</dc:title>
  <dc:subject>PptxGenJS Presentation</dc:subject>
  <dc:creator>Giảng viên KHMT</dc:creator>
  <cp:lastModifiedBy>Giảng viên KHMT</cp:lastModifiedBy>
  <cp:revision>1</cp:revision>
  <dcterms:created xsi:type="dcterms:W3CDTF">2026-05-10T10:35:02Z</dcterms:created>
  <dcterms:modified xsi:type="dcterms:W3CDTF">2026-05-10T10:35:02Z</dcterms:modified>
</cp:coreProperties>
</file>