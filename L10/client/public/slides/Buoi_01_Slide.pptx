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99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GIỚI THIỆU KHOA HỌC MÁY TÍNH</a:t>
            </a:r>
            <a:endParaRPr lang="en-US" sz="2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PYTHON CƠ BẢN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Thời lượng 5 giờ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r>
              <a:rPr lang="en-US" sz="11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 Hải Đăng 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Năm học 2025-2026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bằng ngôn ngữ thường ngày: KHMT là gì, máy tính hoạt động ra sao theo mô hình von Neumann.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môi trường lập trình Python (Anaconda / Google Colab) và chạy được lệnh đầu tiên.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biến, sử dụng các kiểu dữ liệu cơ bản: int, float, str, bool.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các toán tử số học, đặc biệt phân biệt được phép chia nguyên (//) và phép modulo (%).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một chương trình ngắn nhận input từ người dùng, chuyển kiểu, tính toán và in ra kết quả.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673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MỞ ĐẦU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chúng ta cần học khoa học máy tính?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502920" cy="50292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3865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TURING ĐẾN PYTHON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2679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ngắn về máy tính và ngôn ngữ lập trình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3118104"/>
            <a:ext cx="502920" cy="50292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0998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NHỮNG CÂU LỆNH ĐẦU TIÊN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33924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Biến, kiểu dữ liệu, toán tử, input/output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831336"/>
            <a:ext cx="502920" cy="50292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813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&amp; THẢO LUẬN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4105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lãi cho khách hàng đầu tiên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TÌNH HUỐNG MỞ ĐẦU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SITUATION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MỘT CON SỐ ĐỂ BẮT ĐẦU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68096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TRIỆU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giao dịch một ngân hàng lớn ở Việt Nam xử lý mỗi ngày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MỞ ĐẦU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"Khi em chuyển khoản 100.000đ cho mẹ — em có biết bên trong điện thoại đang xảy ra điều gì không?"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COMPLICATION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NẾU XỬ LÝ BẰNG TAY THÌ SAO?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2606040" cy="4572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giây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nhân viên giỏi xử lý 1 giao dịch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25880"/>
            <a:ext cx="260604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544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30M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24612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ngày một ngân hàng lớn xử lý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325880"/>
            <a:ext cx="2606040" cy="45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544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5,200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3504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người làm 8h/ngày để xong 1 ngày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947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Bằng tay là bất khả thi. Phải có một thứ gì đó giúp ngân hàng làm việc này — thứ đó là gì?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HOẠT ĐỘNG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THẢO LUẬN NHÓM (8 PHÚT)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 THẢO LUẬN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"Nếu năm 1940, em được giao thiết kế một cỗ máy tự động xử lý sổ sách ngân hàng — máy đó cần có những phần gì?"</a:t>
            </a:r>
            <a:endParaRPr lang="en-US" sz="14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457200" y="3017520"/>
            <a:ext cx="2606040" cy="1440180"/>
            <a:chOff x="457200" y="2994660"/>
            <a:chExt cx="2606040" cy="1440180"/>
          </a:xfrm>
        </p:grpSpPr>
        <p:sp>
          <p:nvSpPr>
            <p:cNvPr id="11" name="Shape 9"/>
            <p:cNvSpPr/>
            <p:nvPr/>
          </p:nvSpPr>
          <p:spPr>
            <a:xfrm>
              <a:off x="457200" y="3017520"/>
              <a:ext cx="2606040" cy="1417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457200" y="2994660"/>
              <a:ext cx="2606040" cy="365760"/>
            </a:xfrm>
            <a:prstGeom prst="rect">
              <a:avLst/>
            </a:prstGeom>
            <a:solidFill>
              <a:srgbClr val="F9A825"/>
            </a:solidFill>
            <a:ln w="12700">
              <a:solidFill>
                <a:srgbClr val="F9A825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94360" y="3456432"/>
              <a:ext cx="2331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B2558"/>
                  </a:solidFill>
                  <a:latin typeface="Palatino Linotype" pitchFamily="34" charset="0"/>
                  <a:ea typeface="Palatino Linotype" pitchFamily="34" charset="-122"/>
                  <a:cs typeface="Palatino Linotype" pitchFamily="34" charset="-120"/>
                </a:rPr>
                <a:t>GHI NHỚ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" y="3822192"/>
              <a:ext cx="2331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Nơi lưu thông tin khách hàng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" y="301752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1B25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GỢI Ý 1</a:t>
              </a:r>
              <a:endParaRPr lang="en-US" sz="10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246120" y="3017520"/>
            <a:ext cx="2606040" cy="1417320"/>
            <a:chOff x="3246120" y="3017520"/>
            <a:chExt cx="2606040" cy="1417320"/>
          </a:xfrm>
        </p:grpSpPr>
        <p:sp>
          <p:nvSpPr>
            <p:cNvPr id="16" name="Shape 14"/>
            <p:cNvSpPr/>
            <p:nvPr/>
          </p:nvSpPr>
          <p:spPr>
            <a:xfrm>
              <a:off x="3246120" y="3017520"/>
              <a:ext cx="2606040" cy="1417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46120" y="3017520"/>
              <a:ext cx="2606040" cy="365760"/>
            </a:xfrm>
            <a:prstGeom prst="rect">
              <a:avLst/>
            </a:prstGeom>
            <a:solidFill>
              <a:srgbClr val="F9A825"/>
            </a:solidFill>
            <a:ln w="12700">
              <a:solidFill>
                <a:srgbClr val="F9A82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383280" y="3456432"/>
              <a:ext cx="2331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B2558"/>
                  </a:solidFill>
                  <a:latin typeface="Palatino Linotype" pitchFamily="34" charset="0"/>
                  <a:ea typeface="Palatino Linotype" pitchFamily="34" charset="-122"/>
                  <a:cs typeface="Palatino Linotype" pitchFamily="34" charset="-120"/>
                </a:rPr>
                <a:t>TÍNH TOÁN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383280" y="3822192"/>
              <a:ext cx="2331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Phần thực hiện phép cộng, trừ, nhân, chia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246120" y="301752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1B25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GỢI Ý 2</a:t>
              </a:r>
              <a:endParaRPr lang="en-US" sz="100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035040" y="3017520"/>
            <a:ext cx="2606040" cy="1417320"/>
            <a:chOff x="6035040" y="3017520"/>
            <a:chExt cx="2606040" cy="1417320"/>
          </a:xfrm>
        </p:grpSpPr>
        <p:sp>
          <p:nvSpPr>
            <p:cNvPr id="21" name="Shape 19"/>
            <p:cNvSpPr/>
            <p:nvPr/>
          </p:nvSpPr>
          <p:spPr>
            <a:xfrm>
              <a:off x="6035040" y="3017520"/>
              <a:ext cx="2606040" cy="1417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6035040" y="3023523"/>
              <a:ext cx="2606040" cy="365760"/>
            </a:xfrm>
            <a:prstGeom prst="rect">
              <a:avLst/>
            </a:prstGeom>
            <a:solidFill>
              <a:srgbClr val="F9A825"/>
            </a:solidFill>
            <a:ln w="12700">
              <a:solidFill>
                <a:srgbClr val="F9A82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172200" y="3456432"/>
              <a:ext cx="2331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B2558"/>
                  </a:solidFill>
                  <a:latin typeface="Palatino Linotype" pitchFamily="34" charset="0"/>
                  <a:ea typeface="Palatino Linotype" pitchFamily="34" charset="-122"/>
                  <a:cs typeface="Palatino Linotype" pitchFamily="34" charset="-120"/>
                </a:rPr>
                <a:t>GIAO TIẾP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172200" y="3822192"/>
              <a:ext cx="23317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Phần nhận lệnh từ người dùng và in kết quả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035040" y="301752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kern="0" spc="200" dirty="0">
                  <a:solidFill>
                    <a:srgbClr val="1B255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GỢI Ý 3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TỪ TURING ĐẾN PYTHON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ALAN TURING — NGƯỜI MỞ ĐƯỜNG (1936)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73152" cy="12801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"Có thể tồn tại một cỗ máy ý niệm có thể giải mọi bài toán tính được."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Alan Turing, 1936 (khái niệm Turing Machine)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606040" cy="1691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Mô hình ý niệm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một cỗ máy thật; là cách hình dung 'tính toán' nói chung.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606040" cy="1691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Phổ quát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bài toán tính được đều có thể mô phỏng bằng Turing machine.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606040" cy="1691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Nền tảng KHMT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thế nào là một thuật toán, từ đó mở ra ngành KHMT.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MÔ HÌNH VON NEUMANN — 4 THÀNH PHẦN MÁY TÍNH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BỘ NHỚ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và chương trình tạm thời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Logic Unit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phép tính và so sánh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BỘ ĐIỀU KHIỂN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429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thứ tự các lệnh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VÀO/RA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32120" y="3429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phím, màn hình, mạng, lưu trữ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Điện thoại em đang dùng cũng có đủ 4 thành phần này: RAM, CPU, Bộ điều khiển trong CPU, Màn hình + Cảm ứng.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THẾ HỆ MÁY TÍNH (1940 → 2026)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554480" cy="685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HỆ 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1940-55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1554480" cy="1188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Đèn chân không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84832" y="1371600"/>
            <a:ext cx="1554480" cy="685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84832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HỆ II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1955-65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84832" y="2103120"/>
            <a:ext cx="1554480" cy="1188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30552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Transistor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30552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1401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9312" y="23317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03904" y="1371600"/>
            <a:ext cx="1554480" cy="685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03904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HỆ III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03904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1965-75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03904" y="2103120"/>
            <a:ext cx="1554480" cy="1188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9624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 mạch (IC)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9624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360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58384" y="23317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22976" y="1371600"/>
            <a:ext cx="1554480" cy="685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22976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HỆ IV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22976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1975-2010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2976" y="2103120"/>
            <a:ext cx="1554480" cy="1188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68696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 xử lý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68696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PC, Laptop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77456" y="23317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42048" y="1371600"/>
            <a:ext cx="1554480" cy="6858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42048" y="1417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HỆ 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42048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2010 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42048" y="2103120"/>
            <a:ext cx="1554480" cy="1188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87768" y="2240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AI, Lượng tử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87768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CẦN GHI NHỚ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máy tính từ ENIAC đến iPhone đều theo mô hình von Neumann — chỉ thay đổi linh kiện, không thay đổi nguyên lý.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TẠI SAO HỌC PYTHON?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NGÔN NGỮ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 ra "Hello"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Độ khó cho người mới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&lt;stdio.h&gt;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main() {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printf("Hello");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return 0;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}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Khó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 class Hello {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public static void main(String[] args) {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System.out.println("Hello");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Trung bình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print("Hello")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Dễ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được dùng tại: JPMorgan, Robinhood, Stripe, Netflix, Spotify, NASA. Đây là lựa chọn lý tưởng cho fintech.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PYTHON: NHỮNG CÂU LỆNH ĐẦU TIÊN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SETUP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CÀI ĐẶT MÔI TRƯỜNG LẬP TRÌNH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ANACONDA + JUPYTER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Tải Anaconda từ anaconda.com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Cài đặt với tùy chọn mặc định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Mở Anaconda Navigator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Launch Jupyter Notebook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New → Python 3 (notebook trống)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GOOGLE COLAB (DỰ PHÒNG)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Mở colab.research.google.com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Đăng nhập Gmail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File → New notebook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Sẵn sàng dùng — không cần cài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Lưu vào Google Drive tự động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CODE ĐẦU TIÊN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CHƯƠNG TRÌNH ĐẦU TIÊN: print()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984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   Jupyter Notebook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print("Xin chào, tôi là Lan")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print("Tôi học môn KHMT")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+ 3)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+ 3, "là kết quả")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HIỂN THỊ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Xin chào, tôi là 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Tôi học môn KHMT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là kết quả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BIẾN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BIẾN — NHƯ MỘT CHIẾC NGĂN KÉO CÓ NHÃN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DỤ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1097280" cy="640080"/>
          </a:xfrm>
          <a:prstGeom prst="rect">
            <a:avLst/>
          </a:prstGeom>
          <a:solidFill>
            <a:srgbClr val="F9A825"/>
          </a:solidFill>
          <a:ln w="1905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nhãn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giá trị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1097280" cy="640080"/>
          </a:xfrm>
          <a:prstGeom prst="rect">
            <a:avLst/>
          </a:prstGeom>
          <a:solidFill>
            <a:srgbClr val="F9A825"/>
          </a:solidFill>
          <a:ln w="1905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nhãn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giá trị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1097280" cy="640080"/>
          </a:xfrm>
          <a:prstGeom prst="rect">
            <a:avLst/>
          </a:prstGeom>
          <a:solidFill>
            <a:srgbClr val="F9A825"/>
          </a:solidFill>
          <a:ln w="1905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nhãn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giá trị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1783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 = "Lan"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0299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tuoi = 22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276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diem = 8.5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5237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770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print(ten, "có điểm", diem)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Lan có điểm 8.5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264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5112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tuoi = tuoi + 1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7581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print("Sang năm:", tuoi)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005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Sang năm: 23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BIẾN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QUY TẮC ĐẶT TÊN BIẾN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HỢP LỆ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KHÔNG HỢP LỆ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2336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48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so_du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548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0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_balance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02336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43200"/>
            <a:ext cx="548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khach1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02336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548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46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tienGui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02336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02336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737360"/>
            <a:ext cx="54864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2024_data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1737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(bắt đầu bằng số)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240280"/>
            <a:ext cx="54864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so du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dấu cách)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402336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743200"/>
            <a:ext cx="54864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if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(trùng từ khóa)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246120"/>
            <a:ext cx="402336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46120"/>
            <a:ext cx="54864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246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khach-1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dấu gạch ngang)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49040"/>
            <a:ext cx="402336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749040"/>
            <a:ext cx="54864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số_dư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dấu tiếng Việt)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Cảnh báo: Đề thi thường có 1 câu hỏi về tên biến hợp lệ — hãy ghi nhớ!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KIỂU DỮ LIỆU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KIỂU DỮ LIỆU CƠ BẢN TRONG PYTHON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640080" cy="132588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640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Số nguyên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25, -100,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25880"/>
            <a:ext cx="640080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25880"/>
            <a:ext cx="640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Số thập phân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0.5, -2.0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640080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34640"/>
            <a:ext cx="640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Chuỗi ký tự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"Lan", "25", ''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023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34640"/>
            <a:ext cx="64008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834640"/>
            <a:ext cx="640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Đúng / Sai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B2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kiểu: type(25) → int  ·  type("Lan") → str  ·  type(True) → bool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TOÁN TỬ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TOÁN TỬ SỐ HỌC TRONG PYTHON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Toán tử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Tên gọi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Ví dụ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Kết quả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Cộng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+ 2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Trừ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7 - 2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Nhân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*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Chia (thực)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Chia nguyên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Modulo (lấy dư)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7 %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55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Lũy thừa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Trọng tâm đề thi: phân biệt /, // và % — đề mẫu 03/04/05 đều có câu hỏi về phép modulo (%)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TOÁN TỬ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PHÉP MODULO (%) — DÙNG ĐỂ LÀM GÌ?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2606040" cy="4572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Số chẵn / lẻ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22402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574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% 2 ==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 là số chẵn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kiểm tra điều kiện logic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25880"/>
            <a:ext cx="2606040" cy="4572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Năm nhuận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1965960"/>
            <a:ext cx="22402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0574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 % 4 ==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nam là năm nhuận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thi mẫu hay hỏi câu này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3258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25880"/>
            <a:ext cx="2606040" cy="4572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Chia kẹo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965960"/>
            <a:ext cx="22402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0574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// 5 =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17 % 5  =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520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3 viên/người, dư 2 viên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INPUT/OUTPUT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input() &amp; TYPE CONVERSION — BẪY THƯỜNG GẶP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CODE SAI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tuoi = input("Tuổi: 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print(tuoi + 1)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chuỗi + số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ĐÚNG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tuoi = int(input("Tuổi: "))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print(tuoi + 1)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OK!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CỐT LÕI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input() LUÔN trả về chuỗi (str), kể cả khi người dùng gõ số. Phải chuyển kiểu bằng int(...) hoặc float(...) trước khi tính toán.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hàm chuyển kiểu chính:   int(x)  ·  float(x)  ·  str(x)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&amp; THẢO LUẬN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TÍNH LÃI CHO KHÁCH HÀNG ĐẦU TIÊN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3258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chương trình hỏi: Tên khách (str), Số tiền gửi (float), Lãi suất %/năm (float), Số năm (int). Sau đó tính và in ra số tiền cuối kỳ.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LÃI ĐƠN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cuoi = goc * (1 + lai_suat / 100 * nam)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OUTPUT MONG ĐỢI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Khách Lan sẽ có 105,000,000 đồng sau 1 năm.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CÓ 3 MỨC ĐỘ — CHỌN PHÙ HỢP NĂNG LỰC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MỨC CƠ BẢN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399032"/>
            <a:ext cx="16916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3990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đề bài chuẩn với lãi đơn cho 1 khách hàng. Đầy đủ input, tính toán, in kết quả.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9601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73152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MỨC NÂNG CAO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496312"/>
            <a:ext cx="16916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496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số năm là số thập phân (vd: 0.5 năm = 6 tháng). Định dạng số tiền có dấu phẩy phân tách hàng nghìn.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MỨC THỬ THÁCH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593592"/>
            <a:ext cx="169164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593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CHỌN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cả lãi kép: cuoi = goc * (1 + lai/100) ** nam. So sánh chênh lệch với lãi đơn cho cùng input.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(1/3)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nào trả về phần dư của phép chia 17 cho 5?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 17 / 5            B.  17 // 5            C.  17 % 5            D.  17 **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chạy x = "25", lệnh nào sau đây gây LỖI?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 print(x)    B.  print(x + "1")    C.  print(x + 1)    D.  print(type(x))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3-5 &amp; ĐÁP ÁN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biến nào KHÔNG hợp lệ?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so_du   B. _balance   C. 2024_data   D. khach1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463040"/>
            <a:ext cx="1691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463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án: 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 print(7 // 2, 7 % 2) in ra?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3 1   B. 3.5 1   C. 1 3   D. 3 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423160"/>
            <a:ext cx="1691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án: 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nào chuyển "3.14" thành số thực?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int('3.14')   B. float('3.14')   C. str('3.14')   D. bool('3.14')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3383280"/>
            <a:ext cx="1691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3832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án: 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 Câu 1 và Câu 2: C, C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TỔNG KẾT &amp; BTVN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 ·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VỀ NHÀ &amp; CHUẨN BỊ BUỔI 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VỀ NHÀ (BẮT BUỘC)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Hoàn thiện chương trình tính lãi đơn (nếu chưa xong tại lớp).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Viết chương trình hỏi năm sinh, tính tuổi, kiểm tra năm sinh có nhuận không (gợi ý: dùng %).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Đọc trước phần 'toán tử logic và bảng sự thật' trong slide Chương 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MỞ DẪN ĐẾN BUỔI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"Hôm nay chương trình của ta tính lãi cho 1 khách. Nếu có 1000 khách, mỗi người có một lãi suất khác nhau — ta có viết 1000 chương trình không?"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Buổi sau ta giải bài đó với cấu trúc rẽ nhánh và vòng lặp.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EM ĐÃ HOÀN THÀNH BUỔI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VÀ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HẸN GẶP LẠI BUỔI 2!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Cấu trúc rẽ nhánh, vòng lặp &amp; xử lý nhiều khách hàng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2237</Words>
  <Application>Microsoft Office PowerPoint</Application>
  <PresentationFormat>On-screen Show (16:9)</PresentationFormat>
  <Paragraphs>430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KHOA HỌC MÁY TÍNH
&amp; PYTHON CƠ BẢN</dc:title>
  <dc:subject>PptxGenJS Presentation</dc:subject>
  <dc:creator>Giảng viên KHMT</dc:creator>
  <cp:lastModifiedBy>Dell XPS 9370</cp:lastModifiedBy>
  <cp:revision>3</cp:revision>
  <dcterms:created xsi:type="dcterms:W3CDTF">2026-04-26T17:02:55Z</dcterms:created>
  <dcterms:modified xsi:type="dcterms:W3CDTF">2026-05-11T07:50:18Z</dcterms:modified>
</cp:coreProperties>
</file>